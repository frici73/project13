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A4F4CB-A84D-408C-9B53-ACB6A47CFEBC}" v="133" dt="2026-10-18T17:44:54.605"/>
    <p1510:client id="{2EF0F7DD-624F-4D80-A8DC-44FE5923EDDD}" v="801" dt="2026-10-18T17:24:29.0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5" autoAdjust="0"/>
    <p:restoredTop sz="94660"/>
  </p:normalViewPr>
  <p:slideViewPr>
    <p:cSldViewPr snapToGrid="0">
      <p:cViewPr varScale="1">
        <p:scale>
          <a:sx n="86" d="100"/>
          <a:sy n="86" d="100"/>
        </p:scale>
        <p:origin x="6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1382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5010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61329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10/18/2026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732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10/18/2026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3099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10/18/2026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975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2282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10/18/2026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84067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10/18/2026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048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523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998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10/18/2026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24327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7">
            <a:extLst>
              <a:ext uri="{FF2B5EF4-FFF2-40B4-BE49-F238E27FC236}">
                <a16:creationId xmlns:a16="http://schemas.microsoft.com/office/drawing/2014/main" id="{2F4AD318-2FB6-4C6E-931E-58E404FA1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reeform: Shape 9">
            <a:extLst>
              <a:ext uri="{FF2B5EF4-FFF2-40B4-BE49-F238E27FC236}">
                <a16:creationId xmlns:a16="http://schemas.microsoft.com/office/drawing/2014/main" id="{1A118E35-1CBF-4863-8497-F4DF1A166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582" y="752748"/>
            <a:ext cx="1001483" cy="4744251"/>
          </a:xfrm>
          <a:custGeom>
            <a:avLst/>
            <a:gdLst>
              <a:gd name="connsiteX0" fmla="*/ 0 w 1001483"/>
              <a:gd name="connsiteY0" fmla="*/ 0 h 4744251"/>
              <a:gd name="connsiteX1" fmla="*/ 1001483 w 1001483"/>
              <a:gd name="connsiteY1" fmla="*/ 0 h 4744251"/>
              <a:gd name="connsiteX2" fmla="*/ 0 w 1001483"/>
              <a:gd name="connsiteY2" fmla="*/ 4744251 h 4744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01483" h="4744251">
                <a:moveTo>
                  <a:pt x="0" y="0"/>
                </a:moveTo>
                <a:lnTo>
                  <a:pt x="1001483" y="0"/>
                </a:lnTo>
                <a:lnTo>
                  <a:pt x="0" y="47442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Freeform: Shape 11">
            <a:extLst>
              <a:ext uri="{FF2B5EF4-FFF2-40B4-BE49-F238E27FC236}">
                <a16:creationId xmlns:a16="http://schemas.microsoft.com/office/drawing/2014/main" id="{6E187274-5DC2-4BE0-AF99-925D6D9735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7094" y="761999"/>
            <a:ext cx="4208489" cy="5334001"/>
          </a:xfrm>
          <a:custGeom>
            <a:avLst/>
            <a:gdLst>
              <a:gd name="connsiteX0" fmla="*/ 1015642 w 4208489"/>
              <a:gd name="connsiteY0" fmla="*/ 0 h 5334001"/>
              <a:gd name="connsiteX1" fmla="*/ 4208489 w 4208489"/>
              <a:gd name="connsiteY1" fmla="*/ 0 h 5334001"/>
              <a:gd name="connsiteX2" fmla="*/ 4208489 w 4208489"/>
              <a:gd name="connsiteY2" fmla="*/ 5334001 h 5334001"/>
              <a:gd name="connsiteX3" fmla="*/ 0 w 4208489"/>
              <a:gd name="connsiteY3" fmla="*/ 5334001 h 533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08489" h="5334001">
                <a:moveTo>
                  <a:pt x="1015642" y="0"/>
                </a:moveTo>
                <a:lnTo>
                  <a:pt x="4208489" y="0"/>
                </a:lnTo>
                <a:lnTo>
                  <a:pt x="4208489" y="5334001"/>
                </a:lnTo>
                <a:lnTo>
                  <a:pt x="0" y="533400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069849" y="1298448"/>
            <a:ext cx="7056444" cy="3255264"/>
          </a:xfrm>
        </p:spPr>
        <p:txBody>
          <a:bodyPr>
            <a:normAutofit/>
          </a:bodyPr>
          <a:lstStyle/>
          <a:p>
            <a:pPr algn="r"/>
            <a:r>
              <a:rPr lang="hu-HU" sz="6000">
                <a:solidFill>
                  <a:schemeClr val="accent1"/>
                </a:solidFill>
                <a:latin typeface="Arial"/>
                <a:cs typeface="Arial"/>
              </a:rPr>
              <a:t>Working souls Fejlesztési állapot összegző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8528702" y="4084889"/>
            <a:ext cx="3021621" cy="17091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hu-HU" sz="1800">
                <a:solidFill>
                  <a:srgbClr val="FFFFFF"/>
                </a:solidFill>
                <a:latin typeface="Arial"/>
                <a:cs typeface="Arial"/>
              </a:rPr>
              <a:t>Csapat tagok: Friedmann Máté, Prisznyák Patrik, Marton Alex Norto</a:t>
            </a:r>
            <a:r>
              <a:rPr lang="hu-HU" sz="1800">
                <a:solidFill>
                  <a:srgbClr val="FFFFFF"/>
                </a:solidFill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266748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01B84FE-03CD-7B60-01B8-F394744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000">
                <a:latin typeface="Arial"/>
                <a:cs typeface="Arial"/>
              </a:rPr>
              <a:t>A Working</a:t>
            </a:r>
            <a:r>
              <a:rPr lang="hu-HU" sz="4000" dirty="0">
                <a:latin typeface="Arial"/>
                <a:cs typeface="Arial"/>
              </a:rPr>
              <a:t> </a:t>
            </a:r>
            <a:r>
              <a:rPr lang="hu-HU" sz="4000">
                <a:latin typeface="Arial"/>
                <a:cs typeface="Arial"/>
              </a:rPr>
              <a:t>souls ismertetője</a:t>
            </a:r>
            <a:endParaRPr lang="hu-HU" sz="4000" dirty="0">
              <a:latin typeface="Arial"/>
              <a:cs typeface="Aria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88B2690-0AFF-98DD-5D52-FF8B3A2A59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hu-HU">
                <a:solidFill>
                  <a:srgbClr val="595959"/>
                </a:solidFill>
                <a:latin typeface="Arial"/>
                <a:ea typeface="+mn-lt"/>
                <a:cs typeface="Arial"/>
              </a:rPr>
              <a:t>A Working Souls egy álláskereső weboldal, amely összekapcsolja az álláskeresőket és a munkáltatókat, lehetőséget biztosítva számukra a kapcsolatfelvételre és a munkaviszony kialakítására.</a:t>
            </a:r>
            <a:endParaRPr lang="hu-HU">
              <a:latin typeface="Arial"/>
              <a:cs typeface="Arial"/>
            </a:endParaRPr>
          </a:p>
          <a:p>
            <a:pPr marL="0" indent="0">
              <a:buNone/>
            </a:pPr>
            <a:r>
              <a:rPr lang="hu-HU" b="1">
                <a:solidFill>
                  <a:srgbClr val="595959"/>
                </a:solidFill>
                <a:latin typeface="Arial"/>
                <a:ea typeface="+mn-lt"/>
                <a:cs typeface="Arial"/>
              </a:rPr>
              <a:t>Főbb funkciók:</a:t>
            </a:r>
            <a:endParaRPr lang="hu-HU" b="1">
              <a:latin typeface="Arial"/>
              <a:cs typeface="Arial"/>
            </a:endParaRPr>
          </a:p>
          <a:p>
            <a:pPr>
              <a:buFont typeface="Arial" pitchFamily="18" charset="2"/>
              <a:buChar char="•"/>
            </a:pPr>
            <a:r>
              <a:rPr lang="hu-HU" b="1">
                <a:solidFill>
                  <a:srgbClr val="595959"/>
                </a:solidFill>
                <a:latin typeface="Arial"/>
                <a:ea typeface="+mn-lt"/>
                <a:cs typeface="Arial"/>
              </a:rPr>
              <a:t>Részletes statisztikák:</a:t>
            </a:r>
            <a:r>
              <a:rPr lang="hu-HU">
                <a:solidFill>
                  <a:srgbClr val="595959"/>
                </a:solidFill>
                <a:latin typeface="Arial"/>
                <a:ea typeface="+mn-lt"/>
                <a:cs typeface="Arial"/>
              </a:rPr>
              <a:t> A különböző munkakörökhöz kapcsolódó adatok segítik a felhasználókat a megalapozott döntéshozatalban.</a:t>
            </a:r>
            <a:endParaRPr lang="hu-HU">
              <a:latin typeface="Arial"/>
              <a:cs typeface="Arial"/>
            </a:endParaRPr>
          </a:p>
          <a:p>
            <a:pPr>
              <a:buFont typeface="Arial" pitchFamily="18" charset="2"/>
              <a:buChar char="•"/>
            </a:pPr>
            <a:r>
              <a:rPr lang="hu-HU" b="1">
                <a:solidFill>
                  <a:srgbClr val="595959"/>
                </a:solidFill>
                <a:latin typeface="Arial"/>
                <a:ea typeface="+mn-lt"/>
                <a:cs typeface="Arial"/>
              </a:rPr>
              <a:t>Személyre szabott keresés:</a:t>
            </a:r>
            <a:r>
              <a:rPr lang="hu-HU">
                <a:solidFill>
                  <a:srgbClr val="595959"/>
                </a:solidFill>
                <a:latin typeface="Arial"/>
                <a:ea typeface="+mn-lt"/>
                <a:cs typeface="Arial"/>
              </a:rPr>
              <a:t> Az álláskeresők különböző szempontok alapján szűrhetnek a munkalehetőségek között, hogy megtalálják a számukra legmegfelelőbb állást.</a:t>
            </a:r>
            <a:endParaRPr lang="hu-HU">
              <a:latin typeface="Arial"/>
              <a:cs typeface="Arial"/>
            </a:endParaRPr>
          </a:p>
          <a:p>
            <a:pPr>
              <a:buFont typeface="Arial" pitchFamily="18" charset="2"/>
              <a:buChar char="•"/>
            </a:pPr>
            <a:r>
              <a:rPr lang="hu-HU" b="1">
                <a:solidFill>
                  <a:srgbClr val="595959"/>
                </a:solidFill>
                <a:latin typeface="Arial"/>
                <a:ea typeface="+mn-lt"/>
                <a:cs typeface="Arial"/>
              </a:rPr>
              <a:t>Célzott munkáltatói keresés:</a:t>
            </a:r>
            <a:r>
              <a:rPr lang="hu-HU">
                <a:solidFill>
                  <a:srgbClr val="595959"/>
                </a:solidFill>
                <a:latin typeface="Arial"/>
                <a:ea typeface="+mn-lt"/>
                <a:cs typeface="Arial"/>
              </a:rPr>
              <a:t> A cégek szűrhetnek a regisztrált álláskeresők között, és közvetlenül felvehetik a kapcsolatot a számukra megfelelő jelöltekkel.</a:t>
            </a:r>
            <a:endParaRPr lang="hu-HU">
              <a:latin typeface="Arial"/>
              <a:cs typeface="Arial"/>
            </a:endParaRPr>
          </a:p>
          <a:p>
            <a:pPr>
              <a:buFont typeface="Arial" pitchFamily="18" charset="2"/>
              <a:buChar char="•"/>
            </a:pPr>
            <a:r>
              <a:rPr lang="hu-HU" b="1">
                <a:solidFill>
                  <a:srgbClr val="595959"/>
                </a:solidFill>
                <a:latin typeface="Arial"/>
                <a:ea typeface="+mn-lt"/>
                <a:cs typeface="Arial"/>
              </a:rPr>
              <a:t>Közvetlen kapcsolatfelvétel:</a:t>
            </a:r>
            <a:r>
              <a:rPr lang="hu-HU">
                <a:solidFill>
                  <a:srgbClr val="595959"/>
                </a:solidFill>
                <a:latin typeface="Arial"/>
                <a:ea typeface="+mn-lt"/>
                <a:cs typeface="Arial"/>
              </a:rPr>
              <a:t> Mindkét fél kezdeményezheti a kapcsolatot, megkönnyítve a megfelelő munkaerő és a megfelelő munkalehetőség egymásra találását.</a:t>
            </a:r>
            <a:endParaRPr lang="hu-HU">
              <a:latin typeface="Arial"/>
              <a:cs typeface="Arial"/>
            </a:endParaRPr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27984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B8424AB-D56B-4256-866A-5B54DE93C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C999C28-AD33-4EB7-A5F1-C06D10A5F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864E5C9-52C9-4572-AC75-548B9B9C2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CC6500-4DBD-4C34-BC14-2387FB483B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61999"/>
            <a:ext cx="4642228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4A5CBE3-E14A-CE4B-821F-9E245FFBA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5878" y="3068977"/>
            <a:ext cx="2395836" cy="70032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spc="-100" dirty="0" err="1">
                <a:latin typeface="Arial"/>
                <a:cs typeface="Arial"/>
              </a:rPr>
              <a:t>Adatbázis</a:t>
            </a:r>
            <a:endParaRPr lang="en-US" sz="4000" spc="-100">
              <a:latin typeface="Arial"/>
              <a:cs typeface="Aria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139A220-7F39-C6FB-9F5F-0BB22C6AE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427" y="3762570"/>
            <a:ext cx="3228521" cy="9144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cs typeface="Arial"/>
              </a:rPr>
              <a:t>ER </a:t>
            </a:r>
            <a:r>
              <a:rPr lang="en-US" sz="240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cs typeface="Arial"/>
              </a:rPr>
              <a:t>modell</a:t>
            </a:r>
            <a:r>
              <a:rPr lang="en-US" sz="24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cs typeface="Arial"/>
              </a:rPr>
              <a:t>: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6D11C40-937C-9992-E360-9BCD1C94D8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053116"/>
            <a:ext cx="6367271" cy="474361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E34A3B6-BAD2-4156-BDC6-4736248BF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8870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B8424AB-D56B-4256-866A-5B54DE93C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999C28-AD33-4EB7-A5F1-C06D10A5F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864E5C9-52C9-4572-AC75-548B9B9C2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5CC6500-4DBD-4C34-BC14-2387FB483B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61999"/>
            <a:ext cx="4642228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8E4CABB1-C4B2-7B12-2EF1-03FEFDD21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5878" y="3080182"/>
            <a:ext cx="2384630" cy="67791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spc="-100" dirty="0" err="1">
                <a:latin typeface="Arial"/>
                <a:cs typeface="Arial"/>
              </a:rPr>
              <a:t>Adatbázis</a:t>
            </a:r>
            <a:endParaRPr lang="en-US" sz="4000" spc="-100">
              <a:latin typeface="Arial"/>
              <a:cs typeface="Arial"/>
            </a:endParaRP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D5B5AE87-10A8-474C-51C9-D6B3277398FD}"/>
              </a:ext>
            </a:extLst>
          </p:cNvPr>
          <p:cNvSpPr txBox="1"/>
          <p:nvPr/>
        </p:nvSpPr>
        <p:spPr>
          <a:xfrm>
            <a:off x="1122427" y="3908246"/>
            <a:ext cx="3228521" cy="914400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US" sz="240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cs typeface="Arial"/>
              </a:rPr>
              <a:t>Relációs</a:t>
            </a:r>
            <a:r>
              <a:rPr lang="en-US" sz="24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cs typeface="Arial"/>
              </a:rPr>
              <a:t> </a:t>
            </a:r>
            <a:r>
              <a:rPr lang="en-US" sz="240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cs typeface="Arial"/>
              </a:rPr>
              <a:t>modell</a:t>
            </a:r>
            <a:endParaRPr lang="en-US" sz="240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  <a:cs typeface="Arial"/>
            </a:endParaRP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A44C2F4F-0AC1-AFAF-2FCF-E1B609435D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-442" b="-593"/>
          <a:stretch>
            <a:fillRect/>
          </a:stretch>
        </p:blipFill>
        <p:spPr>
          <a:xfrm>
            <a:off x="5120640" y="1055589"/>
            <a:ext cx="6367271" cy="473867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4E34A3B6-BAD2-4156-BDC6-4736248BF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15668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81577AD-DA5F-48B3-8FB9-5199BA9EE6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65350"/>
            <a:ext cx="4642228" cy="5330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ECF02FF-940D-65D5-E94C-85BB01DB9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249" y="1123837"/>
            <a:ext cx="4016116" cy="1255469"/>
          </a:xfrm>
        </p:spPr>
        <p:txBody>
          <a:bodyPr>
            <a:normAutofit/>
          </a:bodyPr>
          <a:lstStyle/>
          <a:p>
            <a:r>
              <a:rPr lang="hu-HU" sz="4000"/>
              <a:t>Lekérdezések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1F4FA08-5EE9-B83D-28E6-40BA786F5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249" y="2510395"/>
            <a:ext cx="4016116" cy="327458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u-HU">
                <a:solidFill>
                  <a:srgbClr val="FFFFFF"/>
                </a:solidFill>
              </a:rPr>
              <a:t>A database mappa tartalmazza a lekerdezes.txt -t.</a:t>
            </a:r>
          </a:p>
          <a:p>
            <a:pPr marL="0" indent="0">
              <a:buNone/>
            </a:pPr>
            <a:r>
              <a:rPr lang="hu-HU">
                <a:solidFill>
                  <a:srgbClr val="FFFFFF"/>
                </a:solidFill>
              </a:rPr>
              <a:t>Tartalmából: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19AE91D-C9E6-9A8B-B3B1-FCE8B6161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7463" y="1728128"/>
            <a:ext cx="6193767" cy="3393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537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C68072-CFFE-0DE7-A46A-ECF0E9D00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241" y="465978"/>
            <a:ext cx="10515600" cy="1247122"/>
          </a:xfrm>
        </p:spPr>
        <p:txBody>
          <a:bodyPr>
            <a:normAutofit/>
          </a:bodyPr>
          <a:lstStyle/>
          <a:p>
            <a:r>
              <a:rPr lang="hu-HU" sz="4000">
                <a:latin typeface="Arial"/>
                <a:cs typeface="Arial"/>
              </a:rPr>
              <a:t>További tervek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5323A17-E94B-F0E9-BC3A-E5B14149B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318" y="1612713"/>
            <a:ext cx="10515600" cy="37798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u-HU" dirty="0">
                <a:latin typeface="Arial"/>
                <a:cs typeface="Arial"/>
              </a:rPr>
              <a:t>Habár backend hiányában nem lehet érdemi haladást elérni a frontend-</a:t>
            </a:r>
            <a:r>
              <a:rPr lang="hu-HU">
                <a:latin typeface="Arial"/>
                <a:cs typeface="Arial"/>
              </a:rPr>
              <a:t>ben már vannak terveink az oldal felépítéséhez.</a:t>
            </a:r>
          </a:p>
          <a:p>
            <a:pPr marL="0" indent="0">
              <a:buNone/>
            </a:pPr>
            <a:r>
              <a:rPr lang="hu-HU">
                <a:latin typeface="Arial"/>
                <a:cs typeface="Arial"/>
              </a:rPr>
              <a:t>A lekéréseket elkezdtük megírni a backendhez. Az adatbázzis megírása lesz a következő lépésünk.</a:t>
            </a:r>
          </a:p>
          <a:p>
            <a:pPr marL="0" indent="0">
              <a:buNone/>
            </a:pPr>
            <a:r>
              <a:rPr lang="hu-HU" b="1"/>
              <a:t>Megjegyzés Frici</a:t>
            </a:r>
            <a:r>
              <a:rPr lang="hu-HU"/>
              <a:t>: (ha be tetted a képet a diára jobb klikkel kattintva nyomj a designer-re és vélaszd ki hogy nézzen ki)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153747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23C2B-2054-4D8B-9E98-9190F8E05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797B5BC-9873-45F9-97D6-298FB5AF08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762000"/>
            <a:ext cx="4208489" cy="5334001"/>
          </a:xfrm>
          <a:custGeom>
            <a:avLst/>
            <a:gdLst>
              <a:gd name="connsiteX0" fmla="*/ 1015642 w 4208489"/>
              <a:gd name="connsiteY0" fmla="*/ 0 h 5334001"/>
              <a:gd name="connsiteX1" fmla="*/ 4208489 w 4208489"/>
              <a:gd name="connsiteY1" fmla="*/ 0 h 5334001"/>
              <a:gd name="connsiteX2" fmla="*/ 4208489 w 4208489"/>
              <a:gd name="connsiteY2" fmla="*/ 5334001 h 5334001"/>
              <a:gd name="connsiteX3" fmla="*/ 0 w 4208489"/>
              <a:gd name="connsiteY3" fmla="*/ 5334001 h 533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08489" h="5334001">
                <a:moveTo>
                  <a:pt x="1015642" y="0"/>
                </a:moveTo>
                <a:lnTo>
                  <a:pt x="4208489" y="0"/>
                </a:lnTo>
                <a:lnTo>
                  <a:pt x="4208489" y="5334001"/>
                </a:lnTo>
                <a:lnTo>
                  <a:pt x="0" y="533400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28DB2F9-05D3-522B-21C9-1F1459E2E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289" y="1055614"/>
            <a:ext cx="3861892" cy="3469301"/>
          </a:xfrm>
        </p:spPr>
        <p:txBody>
          <a:bodyPr>
            <a:normAutofit/>
          </a:bodyPr>
          <a:lstStyle/>
          <a:p>
            <a:r>
              <a:rPr lang="hu-HU" sz="6000">
                <a:latin typeface="Arial"/>
                <a:cs typeface="Arial"/>
              </a:rPr>
              <a:t>Az összegző vége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FF89998-579E-A8B1-8337-B2AC4A540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018" y="1840025"/>
            <a:ext cx="6627377" cy="349171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u-HU">
                <a:latin typeface="Arial"/>
                <a:cs typeface="Arial"/>
              </a:rPr>
              <a:t>Köszönjük a figyelmet!</a:t>
            </a:r>
          </a:p>
          <a:p>
            <a:pPr marL="0" indent="0">
              <a:buNone/>
            </a:pPr>
            <a:r>
              <a:rPr lang="hu-HU">
                <a:latin typeface="Arial"/>
                <a:cs typeface="Arial"/>
              </a:rPr>
              <a:t>Készítette: Friedmann Máté, Prisznyák Patrik, Marton Alex Norton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65C2FCD-09A4-4B4B-AA73-F330DFE91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11190517" y="1056875"/>
            <a:ext cx="1001483" cy="4744251"/>
          </a:xfrm>
          <a:custGeom>
            <a:avLst/>
            <a:gdLst>
              <a:gd name="connsiteX0" fmla="*/ 0 w 1001483"/>
              <a:gd name="connsiteY0" fmla="*/ 0 h 4744251"/>
              <a:gd name="connsiteX1" fmla="*/ 1001483 w 1001483"/>
              <a:gd name="connsiteY1" fmla="*/ 0 h 4744251"/>
              <a:gd name="connsiteX2" fmla="*/ 0 w 1001483"/>
              <a:gd name="connsiteY2" fmla="*/ 4744251 h 4744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01483" h="4744251">
                <a:moveTo>
                  <a:pt x="0" y="0"/>
                </a:moveTo>
                <a:lnTo>
                  <a:pt x="1001483" y="0"/>
                </a:lnTo>
                <a:lnTo>
                  <a:pt x="0" y="47442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92388840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Szélesvásznú</PresentationFormat>
  <Paragraphs>0</Paragraphs>
  <Slides>7</Slides>
  <Notes>0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8" baseType="lpstr">
      <vt:lpstr>Frame</vt:lpstr>
      <vt:lpstr>Working souls Fejlesztési állapot összegző</vt:lpstr>
      <vt:lpstr>A Working souls ismertetője</vt:lpstr>
      <vt:lpstr>Adatbázis</vt:lpstr>
      <vt:lpstr>Adatbázis</vt:lpstr>
      <vt:lpstr>Lekérdezések</vt:lpstr>
      <vt:lpstr>További tervek</vt:lpstr>
      <vt:lpstr>Az összegző vége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274</cp:revision>
  <dcterms:created xsi:type="dcterms:W3CDTF">2026-10-18T16:20:55Z</dcterms:created>
  <dcterms:modified xsi:type="dcterms:W3CDTF">2026-10-18T17:45:37Z</dcterms:modified>
</cp:coreProperties>
</file>